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12192000"/>
  <p:embeddedFontLst>
    <p:embeddedFont>
      <p:font typeface="Alice" panose="020B0604020202020204" charset="0"/>
      <p:regular r:id="rId9"/>
    </p:embeddedFont>
    <p:embeddedFont>
      <p:font typeface="Lora" pitchFamily="2" charset="0"/>
      <p:regular r:id="rId10"/>
    </p:embeddedFont>
    <p:embeddedFont>
      <p:font typeface="Lora Bold" panose="020B0604020202020204" charset="0"/>
      <p:regular r:id="rId1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61797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1F2DE"/>
          </a:solidFill>
          <a:ln/>
        </p:spPr>
      </p:sp>
      <p:sp>
        <p:nvSpPr>
          <p:cNvPr id="3" name="Shape 1"/>
          <p:cNvSpPr/>
          <p:nvPr/>
        </p:nvSpPr>
        <p:spPr>
          <a:xfrm>
            <a:off x="0" y="0"/>
            <a:ext cx="12191695" cy="6858000"/>
          </a:xfrm>
          <a:prstGeom prst="rect">
            <a:avLst/>
          </a:prstGeom>
          <a:solidFill>
            <a:srgbClr val="FCFBF8"/>
          </a:solidFill>
          <a:ln/>
        </p:spPr>
      </p:sp>
      <p:pic>
        <p:nvPicPr>
          <p:cNvPr id="4"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61475" y="1468041"/>
            <a:ext cx="10868745" cy="1181298"/>
          </a:xfrm>
          <a:prstGeom prst="rect">
            <a:avLst/>
          </a:prstGeom>
          <a:noFill/>
          <a:ln/>
        </p:spPr>
        <p:txBody>
          <a:bodyPr wrap="square" lIns="0" tIns="0" rIns="0" bIns="0" rtlCol="0" anchor="t">
            <a:normAutofit/>
          </a:bodyPr>
          <a:lstStyle/>
          <a:p>
            <a:pPr marL="0" indent="0" algn="l">
              <a:lnSpc>
                <a:spcPct val="104000"/>
              </a:lnSpc>
              <a:buNone/>
            </a:pPr>
            <a:r>
              <a:rPr lang="en-US" sz="3700" dirty="0">
                <a:solidFill>
                  <a:srgbClr val="233E32"/>
                </a:solidFill>
                <a:latin typeface="Alice" pitchFamily="34" charset="0"/>
                <a:ea typeface="Alice" pitchFamily="34" charset="-122"/>
                <a:cs typeface="Alice" pitchFamily="34" charset="-120"/>
              </a:rPr>
              <a:t>IndicSearch: An Efficient Keyword-Based Search Engine for Indian-Language Wikipedia</a:t>
            </a:r>
            <a:endParaRPr lang="en-US" sz="3700" dirty="0"/>
          </a:p>
        </p:txBody>
      </p:sp>
      <p:sp>
        <p:nvSpPr>
          <p:cNvPr id="3" name="Text 1"/>
          <p:cNvSpPr/>
          <p:nvPr/>
        </p:nvSpPr>
        <p:spPr>
          <a:xfrm>
            <a:off x="661475" y="3027363"/>
            <a:ext cx="10868745" cy="2362597"/>
          </a:xfrm>
          <a:prstGeom prst="rect">
            <a:avLst/>
          </a:prstGeom>
          <a:noFill/>
          <a:ln/>
        </p:spPr>
        <p:txBody>
          <a:bodyPr wrap="square" lIns="0" tIns="0" rIns="0" bIns="0" rtlCol="0" anchor="t"/>
          <a:lstStyle/>
          <a:p>
            <a:pPr marL="0" indent="0" algn="l">
              <a:lnSpc>
                <a:spcPct val="133000"/>
              </a:lnSpc>
              <a:spcAft>
                <a:spcPts val="1650"/>
              </a:spcAft>
              <a:buNone/>
            </a:pPr>
            <a:r>
              <a:rPr lang="en-US" sz="1450" dirty="0">
                <a:solidFill>
                  <a:srgbClr val="2C2821"/>
                </a:solidFill>
                <a:latin typeface="Lora" pitchFamily="34" charset="0"/>
                <a:ea typeface="Lora" pitchFamily="34" charset="-122"/>
                <a:cs typeface="Lora" pitchFamily="34" charset="-120"/>
              </a:rPr>
              <a:t>.TEAM MEMBERS:</a:t>
            </a:r>
            <a:endParaRPr lang="en-US" sz="1450" dirty="0"/>
          </a:p>
          <a:p>
            <a:pPr marL="0" indent="0" algn="l">
              <a:lnSpc>
                <a:spcPct val="133000"/>
              </a:lnSpc>
              <a:spcAft>
                <a:spcPts val="1650"/>
              </a:spcAft>
              <a:buNone/>
            </a:pPr>
            <a:r>
              <a:rPr lang="en-US" sz="1450" dirty="0">
                <a:solidFill>
                  <a:srgbClr val="2C2821"/>
                </a:solidFill>
                <a:latin typeface="Lora" pitchFamily="34" charset="0"/>
                <a:ea typeface="Lora" pitchFamily="34" charset="-122"/>
                <a:cs typeface="Lora" pitchFamily="34" charset="-120"/>
              </a:rPr>
              <a:t>2520030001   M.ASWITHA</a:t>
            </a:r>
            <a:endParaRPr lang="en-US" sz="1450" dirty="0"/>
          </a:p>
          <a:p>
            <a:pPr marL="0" indent="0" algn="l">
              <a:lnSpc>
                <a:spcPct val="133000"/>
              </a:lnSpc>
              <a:spcAft>
                <a:spcPts val="1650"/>
              </a:spcAft>
              <a:buNone/>
            </a:pPr>
            <a:r>
              <a:rPr lang="en-US" sz="1450" dirty="0">
                <a:solidFill>
                  <a:srgbClr val="2C2821"/>
                </a:solidFill>
                <a:latin typeface="Lora" pitchFamily="34" charset="0"/>
                <a:ea typeface="Lora" pitchFamily="34" charset="-122"/>
                <a:cs typeface="Lora" pitchFamily="34" charset="-120"/>
              </a:rPr>
              <a:t>2520030098  G.SUSHMA</a:t>
            </a:r>
            <a:endParaRPr lang="en-US" sz="1450" dirty="0"/>
          </a:p>
          <a:p>
            <a:pPr marL="0" indent="0" algn="l">
              <a:lnSpc>
                <a:spcPct val="133000"/>
              </a:lnSpc>
              <a:spcAft>
                <a:spcPts val="1650"/>
              </a:spcAft>
              <a:buNone/>
            </a:pPr>
            <a:r>
              <a:rPr lang="en-US" sz="1450" dirty="0">
                <a:solidFill>
                  <a:srgbClr val="2C2821"/>
                </a:solidFill>
                <a:latin typeface="Lora" pitchFamily="34" charset="0"/>
                <a:ea typeface="Lora" pitchFamily="34" charset="-122"/>
                <a:cs typeface="Lora" pitchFamily="34" charset="-120"/>
              </a:rPr>
              <a:t>2520030414   N.YISHNAANI</a:t>
            </a:r>
            <a:endParaRPr lang="en-US" sz="1450" dirty="0"/>
          </a:p>
        </p:txBody>
      </p:sp>
      <p:pic>
        <p:nvPicPr>
          <p:cNvPr id="5" name="Picture 4">
            <a:extLst>
              <a:ext uri="{FF2B5EF4-FFF2-40B4-BE49-F238E27FC236}">
                <a16:creationId xmlns:a16="http://schemas.microsoft.com/office/drawing/2014/main" id="{5E95925E-0A58-187B-0367-15D381AFC345}"/>
              </a:ext>
            </a:extLst>
          </p:cNvPr>
          <p:cNvPicPr>
            <a:picLocks noChangeAspect="1"/>
          </p:cNvPicPr>
          <p:nvPr/>
        </p:nvPicPr>
        <p:blipFill>
          <a:blip r:embed="rId3"/>
          <a:stretch>
            <a:fillRect/>
          </a:stretch>
        </p:blipFill>
        <p:spPr>
          <a:xfrm>
            <a:off x="10115260" y="6372157"/>
            <a:ext cx="2076740" cy="48584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61475" y="1869976"/>
            <a:ext cx="10868745" cy="472480"/>
          </a:xfrm>
          <a:prstGeom prst="rect">
            <a:avLst/>
          </a:prstGeom>
          <a:noFill/>
          <a:ln/>
        </p:spPr>
        <p:txBody>
          <a:bodyPr wrap="none" lIns="0" tIns="0" rIns="0" bIns="0" rtlCol="0" anchor="t"/>
          <a:lstStyle/>
          <a:p>
            <a:pPr marL="0" indent="0" algn="l">
              <a:lnSpc>
                <a:spcPct val="104000"/>
              </a:lnSpc>
              <a:buNone/>
            </a:pPr>
            <a:r>
              <a:rPr lang="en-US" sz="2950" dirty="0">
                <a:solidFill>
                  <a:srgbClr val="233E32"/>
                </a:solidFill>
                <a:latin typeface="Alice" pitchFamily="34" charset="0"/>
                <a:ea typeface="Alice" pitchFamily="34" charset="-122"/>
                <a:cs typeface="Alice" pitchFamily="34" charset="-120"/>
              </a:rPr>
              <a:t>Abstract</a:t>
            </a:r>
            <a:endParaRPr lang="en-US" sz="2950" dirty="0"/>
          </a:p>
        </p:txBody>
      </p:sp>
      <p:sp>
        <p:nvSpPr>
          <p:cNvPr id="3" name="Text 1"/>
          <p:cNvSpPr/>
          <p:nvPr/>
        </p:nvSpPr>
        <p:spPr>
          <a:xfrm>
            <a:off x="661475" y="2720479"/>
            <a:ext cx="10868745" cy="2267545"/>
          </a:xfrm>
          <a:prstGeom prst="rect">
            <a:avLst/>
          </a:prstGeom>
          <a:noFill/>
          <a:ln/>
        </p:spPr>
        <p:txBody>
          <a:bodyPr wrap="square" lIns="0" tIns="0" rIns="0" bIns="0" rtlCol="0" anchor="t">
            <a:normAutofit/>
          </a:bodyPr>
          <a:lstStyle/>
          <a:p>
            <a:pPr marL="0" indent="0" algn="l">
              <a:lnSpc>
                <a:spcPct val="133000"/>
              </a:lnSpc>
              <a:buNone/>
            </a:pPr>
            <a:r>
              <a:rPr lang="en-US" sz="1850" dirty="0">
                <a:solidFill>
                  <a:srgbClr val="2C2821"/>
                </a:solidFill>
                <a:latin typeface="Lora" pitchFamily="34" charset="0"/>
                <a:ea typeface="Lora" pitchFamily="34" charset="-122"/>
                <a:cs typeface="Lora" pitchFamily="34" charset="-120"/>
              </a:rPr>
              <a:t> IndicSearch is a simple and efficient search engine designed to search large Indian-language Wikipedia datasets. It uses indexing techniques to store and organize data so users can find information quickly. The system supports single- and multi-keyword queries, handles Unicode for multiple Indian languages, and ranks documents by keyword frequency. By querying an index rather than scanning every document, IndicSearch reduces search time and improves scalability for multilingual corpora.</a:t>
            </a:r>
            <a:endParaRPr lang="en-US" sz="1850" dirty="0"/>
          </a:p>
        </p:txBody>
      </p:sp>
      <p:pic>
        <p:nvPicPr>
          <p:cNvPr id="5" name="Picture 4">
            <a:extLst>
              <a:ext uri="{FF2B5EF4-FFF2-40B4-BE49-F238E27FC236}">
                <a16:creationId xmlns:a16="http://schemas.microsoft.com/office/drawing/2014/main" id="{01425585-B9CD-41A5-25D5-F6DED22EF1E0}"/>
              </a:ext>
            </a:extLst>
          </p:cNvPr>
          <p:cNvPicPr>
            <a:picLocks noChangeAspect="1"/>
          </p:cNvPicPr>
          <p:nvPr/>
        </p:nvPicPr>
        <p:blipFill>
          <a:blip r:embed="rId3"/>
          <a:stretch>
            <a:fillRect/>
          </a:stretch>
        </p:blipFill>
        <p:spPr>
          <a:xfrm>
            <a:off x="10115260" y="6372157"/>
            <a:ext cx="2076740" cy="48584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2058888"/>
            <a:ext cx="10868745" cy="472480"/>
          </a:xfrm>
          <a:prstGeom prst="rect">
            <a:avLst/>
          </a:prstGeom>
          <a:noFill/>
          <a:ln/>
        </p:spPr>
        <p:txBody>
          <a:bodyPr wrap="none" lIns="0" tIns="0" rIns="0" bIns="0" rtlCol="0" anchor="t"/>
          <a:lstStyle/>
          <a:p>
            <a:pPr marL="0" indent="0" algn="l">
              <a:lnSpc>
                <a:spcPct val="104000"/>
              </a:lnSpc>
              <a:buNone/>
            </a:pPr>
            <a:r>
              <a:rPr lang="en-US" sz="2950" dirty="0">
                <a:solidFill>
                  <a:srgbClr val="233E32"/>
                </a:solidFill>
                <a:latin typeface="Alice" pitchFamily="34" charset="0"/>
                <a:ea typeface="Alice" pitchFamily="34" charset="-122"/>
                <a:cs typeface="Alice" pitchFamily="34" charset="-120"/>
              </a:rPr>
              <a:t>Problem Statement</a:t>
            </a:r>
            <a:endParaRPr lang="en-US" sz="2950" dirty="0"/>
          </a:p>
        </p:txBody>
      </p:sp>
      <p:sp>
        <p:nvSpPr>
          <p:cNvPr id="3" name="Text 1"/>
          <p:cNvSpPr/>
          <p:nvPr/>
        </p:nvSpPr>
        <p:spPr>
          <a:xfrm>
            <a:off x="661475" y="2909391"/>
            <a:ext cx="10868745" cy="1889621"/>
          </a:xfrm>
          <a:prstGeom prst="rect">
            <a:avLst/>
          </a:prstGeom>
          <a:noFill/>
          <a:ln/>
        </p:spPr>
        <p:txBody>
          <a:bodyPr wrap="square" lIns="0" tIns="0" rIns="0" bIns="0" rtlCol="0" anchor="t">
            <a:normAutofit/>
          </a:bodyPr>
          <a:lstStyle/>
          <a:p>
            <a:pPr marL="0" indent="0" algn="l">
              <a:lnSpc>
                <a:spcPct val="133000"/>
              </a:lnSpc>
              <a:buNone/>
            </a:pPr>
            <a:r>
              <a:rPr lang="en-US" sz="1850" dirty="0">
                <a:solidFill>
                  <a:srgbClr val="2C2821"/>
                </a:solidFill>
                <a:latin typeface="Lora" pitchFamily="34" charset="0"/>
                <a:ea typeface="Lora" pitchFamily="34" charset="-122"/>
                <a:cs typeface="Lora" pitchFamily="34" charset="-120"/>
              </a:rPr>
              <a:t> Searching a large Indian-language Wikipedia corpus by scanning every document is slow and impractical at scale. Traditional linear search methods do not meet performance needs for large multilingual datasets. The project addresses the need for a fast, scalable keyword search system that: supports Unicode Indian-language text, accepts single and multiple keywords, and returns ranked results based on keyword occurrence.</a:t>
            </a:r>
            <a:endParaRPr lang="en-US" sz="1850" dirty="0"/>
          </a:p>
        </p:txBody>
      </p:sp>
      <p:pic>
        <p:nvPicPr>
          <p:cNvPr id="5" name="Picture 4">
            <a:extLst>
              <a:ext uri="{FF2B5EF4-FFF2-40B4-BE49-F238E27FC236}">
                <a16:creationId xmlns:a16="http://schemas.microsoft.com/office/drawing/2014/main" id="{BDE49B73-3B9F-8880-B35C-6C2D845E2F53}"/>
              </a:ext>
            </a:extLst>
          </p:cNvPr>
          <p:cNvPicPr>
            <a:picLocks noChangeAspect="1"/>
          </p:cNvPicPr>
          <p:nvPr/>
        </p:nvPicPr>
        <p:blipFill>
          <a:blip r:embed="rId3"/>
          <a:stretch>
            <a:fillRect/>
          </a:stretch>
        </p:blipFill>
        <p:spPr>
          <a:xfrm>
            <a:off x="10109040" y="6372157"/>
            <a:ext cx="2076740" cy="48584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1064022"/>
            <a:ext cx="10868745" cy="472480"/>
          </a:xfrm>
          <a:prstGeom prst="rect">
            <a:avLst/>
          </a:prstGeom>
          <a:noFill/>
          <a:ln/>
        </p:spPr>
        <p:txBody>
          <a:bodyPr wrap="none" lIns="0" tIns="0" rIns="0" bIns="0" rtlCol="0" anchor="t"/>
          <a:lstStyle/>
          <a:p>
            <a:pPr marL="0" indent="0" algn="l">
              <a:lnSpc>
                <a:spcPct val="104000"/>
              </a:lnSpc>
              <a:buNone/>
            </a:pPr>
            <a:r>
              <a:rPr lang="en-US" sz="2950" dirty="0">
                <a:solidFill>
                  <a:srgbClr val="233E32"/>
                </a:solidFill>
                <a:latin typeface="Alice" pitchFamily="34" charset="0"/>
                <a:ea typeface="Alice" pitchFamily="34" charset="-122"/>
                <a:cs typeface="Alice" pitchFamily="34" charset="-120"/>
              </a:rPr>
              <a:t>Proposed Functionalities</a:t>
            </a:r>
            <a:endParaRPr lang="en-US" sz="2950" dirty="0"/>
          </a:p>
        </p:txBody>
      </p:sp>
      <p:sp>
        <p:nvSpPr>
          <p:cNvPr id="3" name="Shape 1"/>
          <p:cNvSpPr/>
          <p:nvPr/>
        </p:nvSpPr>
        <p:spPr>
          <a:xfrm>
            <a:off x="661475" y="1914525"/>
            <a:ext cx="2575357" cy="2298799"/>
          </a:xfrm>
          <a:prstGeom prst="roundRect">
            <a:avLst>
              <a:gd name="adj" fmla="val 1233"/>
            </a:avLst>
          </a:prstGeom>
          <a:solidFill>
            <a:srgbClr val="F0EDE6"/>
          </a:solidFill>
          <a:ln/>
        </p:spPr>
      </p:sp>
      <p:sp>
        <p:nvSpPr>
          <p:cNvPr id="4" name="Text 2"/>
          <p:cNvSpPr/>
          <p:nvPr/>
        </p:nvSpPr>
        <p:spPr>
          <a:xfrm>
            <a:off x="850482" y="2103537"/>
            <a:ext cx="2197343" cy="295275"/>
          </a:xfrm>
          <a:prstGeom prst="rect">
            <a:avLst/>
          </a:prstGeom>
          <a:noFill/>
          <a:ln/>
        </p:spPr>
        <p:txBody>
          <a:bodyPr wrap="none" lIns="0" tIns="0" rIns="0" bIns="0" rtlCol="0" anchor="t"/>
          <a:lstStyle/>
          <a:p>
            <a:pPr marL="0" indent="0" algn="l">
              <a:lnSpc>
                <a:spcPct val="104000"/>
              </a:lnSpc>
              <a:buNone/>
            </a:pPr>
            <a:r>
              <a:rPr lang="en-US" sz="1850" dirty="0">
                <a:solidFill>
                  <a:srgbClr val="2C2821"/>
                </a:solidFill>
                <a:latin typeface="Alice" pitchFamily="34" charset="0"/>
                <a:ea typeface="Alice" pitchFamily="34" charset="-122"/>
                <a:cs typeface="Alice" pitchFamily="34" charset="-120"/>
              </a:rPr>
              <a:t>Data Preprocessing</a:t>
            </a:r>
            <a:endParaRPr lang="en-US" sz="1850" dirty="0"/>
          </a:p>
        </p:txBody>
      </p:sp>
      <p:sp>
        <p:nvSpPr>
          <p:cNvPr id="5" name="Text 3"/>
          <p:cNvSpPr/>
          <p:nvPr/>
        </p:nvSpPr>
        <p:spPr>
          <a:xfrm>
            <a:off x="850482" y="2512219"/>
            <a:ext cx="2197343" cy="1512094"/>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2C2821"/>
                </a:solidFill>
                <a:latin typeface="Lora" pitchFamily="34" charset="0"/>
                <a:ea typeface="Lora" pitchFamily="34" charset="-122"/>
                <a:cs typeface="Lora" pitchFamily="34" charset="-120"/>
              </a:rPr>
              <a:t>Clean, normalize, tokenize Indian-language Wikipedia text; remove noise and standardize encodings.</a:t>
            </a:r>
            <a:endParaRPr lang="en-US" sz="1450" dirty="0"/>
          </a:p>
        </p:txBody>
      </p:sp>
      <p:sp>
        <p:nvSpPr>
          <p:cNvPr id="6" name="Shape 4"/>
          <p:cNvSpPr/>
          <p:nvPr/>
        </p:nvSpPr>
        <p:spPr>
          <a:xfrm>
            <a:off x="3425839" y="1914525"/>
            <a:ext cx="2575456" cy="2298799"/>
          </a:xfrm>
          <a:prstGeom prst="roundRect">
            <a:avLst>
              <a:gd name="adj" fmla="val 1233"/>
            </a:avLst>
          </a:prstGeom>
          <a:solidFill>
            <a:srgbClr val="F0EDE6"/>
          </a:solidFill>
          <a:ln/>
        </p:spPr>
      </p:sp>
      <p:sp>
        <p:nvSpPr>
          <p:cNvPr id="7" name="Text 5"/>
          <p:cNvSpPr/>
          <p:nvPr/>
        </p:nvSpPr>
        <p:spPr>
          <a:xfrm>
            <a:off x="3614846" y="2103537"/>
            <a:ext cx="2197442" cy="295275"/>
          </a:xfrm>
          <a:prstGeom prst="rect">
            <a:avLst/>
          </a:prstGeom>
          <a:noFill/>
          <a:ln/>
        </p:spPr>
        <p:txBody>
          <a:bodyPr wrap="none" lIns="0" tIns="0" rIns="0" bIns="0" rtlCol="0" anchor="t"/>
          <a:lstStyle/>
          <a:p>
            <a:pPr marL="0" indent="0" algn="l">
              <a:lnSpc>
                <a:spcPct val="104000"/>
              </a:lnSpc>
              <a:buNone/>
            </a:pPr>
            <a:r>
              <a:rPr lang="en-US" sz="1850" dirty="0">
                <a:solidFill>
                  <a:srgbClr val="2C2821"/>
                </a:solidFill>
                <a:latin typeface="Alice" pitchFamily="34" charset="0"/>
                <a:ea typeface="Alice" pitchFamily="34" charset="-122"/>
                <a:cs typeface="Alice" pitchFamily="34" charset="-120"/>
              </a:rPr>
              <a:t>Keyword Indexing</a:t>
            </a:r>
            <a:endParaRPr lang="en-US" sz="1850" dirty="0"/>
          </a:p>
        </p:txBody>
      </p:sp>
      <p:sp>
        <p:nvSpPr>
          <p:cNvPr id="8" name="Text 6"/>
          <p:cNvSpPr/>
          <p:nvPr/>
        </p:nvSpPr>
        <p:spPr>
          <a:xfrm>
            <a:off x="3614846" y="2512219"/>
            <a:ext cx="2197442" cy="1512094"/>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2C2821"/>
                </a:solidFill>
                <a:latin typeface="Lora" pitchFamily="34" charset="0"/>
                <a:ea typeface="Lora" pitchFamily="34" charset="-122"/>
                <a:cs typeface="Lora" pitchFamily="34" charset="-120"/>
              </a:rPr>
              <a:t>Create inverted index structures mapping terms to document postings for rapid lookup.</a:t>
            </a:r>
            <a:endParaRPr lang="en-US" sz="1450" dirty="0"/>
          </a:p>
        </p:txBody>
      </p:sp>
      <p:sp>
        <p:nvSpPr>
          <p:cNvPr id="9" name="Shape 7"/>
          <p:cNvSpPr/>
          <p:nvPr/>
        </p:nvSpPr>
        <p:spPr>
          <a:xfrm>
            <a:off x="6190301" y="1914525"/>
            <a:ext cx="2575456" cy="2298799"/>
          </a:xfrm>
          <a:prstGeom prst="roundRect">
            <a:avLst>
              <a:gd name="adj" fmla="val 1233"/>
            </a:avLst>
          </a:prstGeom>
          <a:solidFill>
            <a:srgbClr val="F0EDE6"/>
          </a:solidFill>
          <a:ln/>
        </p:spPr>
      </p:sp>
      <p:sp>
        <p:nvSpPr>
          <p:cNvPr id="10" name="Text 8"/>
          <p:cNvSpPr/>
          <p:nvPr/>
        </p:nvSpPr>
        <p:spPr>
          <a:xfrm>
            <a:off x="6379308" y="2103537"/>
            <a:ext cx="2197442" cy="295275"/>
          </a:xfrm>
          <a:prstGeom prst="rect">
            <a:avLst/>
          </a:prstGeom>
          <a:noFill/>
          <a:ln/>
        </p:spPr>
        <p:txBody>
          <a:bodyPr wrap="none" lIns="0" tIns="0" rIns="0" bIns="0" rtlCol="0" anchor="t"/>
          <a:lstStyle/>
          <a:p>
            <a:pPr marL="0" indent="0" algn="l">
              <a:lnSpc>
                <a:spcPct val="104000"/>
              </a:lnSpc>
              <a:buNone/>
            </a:pPr>
            <a:r>
              <a:rPr lang="en-US" sz="1850" dirty="0">
                <a:solidFill>
                  <a:srgbClr val="2C2821"/>
                </a:solidFill>
                <a:latin typeface="Alice" pitchFamily="34" charset="0"/>
                <a:ea typeface="Alice" pitchFamily="34" charset="-122"/>
                <a:cs typeface="Alice" pitchFamily="34" charset="-120"/>
              </a:rPr>
              <a:t>Keyword Search</a:t>
            </a:r>
            <a:endParaRPr lang="en-US" sz="1850" dirty="0"/>
          </a:p>
        </p:txBody>
      </p:sp>
      <p:sp>
        <p:nvSpPr>
          <p:cNvPr id="11" name="Text 9"/>
          <p:cNvSpPr/>
          <p:nvPr/>
        </p:nvSpPr>
        <p:spPr>
          <a:xfrm>
            <a:off x="6379308" y="2512219"/>
            <a:ext cx="2197442" cy="1512094"/>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2C2821"/>
                </a:solidFill>
                <a:latin typeface="Lora" pitchFamily="34" charset="0"/>
                <a:ea typeface="Lora" pitchFamily="34" charset="-122"/>
                <a:cs typeface="Lora" pitchFamily="34" charset="-120"/>
              </a:rPr>
              <a:t>Support queries with one or more keywords; fetch posting lists and combine results efficiently.</a:t>
            </a:r>
            <a:endParaRPr lang="en-US" sz="1450" dirty="0"/>
          </a:p>
        </p:txBody>
      </p:sp>
      <p:sp>
        <p:nvSpPr>
          <p:cNvPr id="12" name="Shape 10"/>
          <p:cNvSpPr/>
          <p:nvPr/>
        </p:nvSpPr>
        <p:spPr>
          <a:xfrm>
            <a:off x="8954764" y="1914525"/>
            <a:ext cx="2575456" cy="2298799"/>
          </a:xfrm>
          <a:prstGeom prst="roundRect">
            <a:avLst>
              <a:gd name="adj" fmla="val 1233"/>
            </a:avLst>
          </a:prstGeom>
          <a:solidFill>
            <a:srgbClr val="F0EDE6"/>
          </a:solidFill>
          <a:ln/>
        </p:spPr>
      </p:sp>
      <p:sp>
        <p:nvSpPr>
          <p:cNvPr id="13" name="Text 11"/>
          <p:cNvSpPr/>
          <p:nvPr/>
        </p:nvSpPr>
        <p:spPr>
          <a:xfrm>
            <a:off x="9143771" y="2103537"/>
            <a:ext cx="2197442" cy="295275"/>
          </a:xfrm>
          <a:prstGeom prst="rect">
            <a:avLst/>
          </a:prstGeom>
          <a:noFill/>
          <a:ln/>
        </p:spPr>
        <p:txBody>
          <a:bodyPr wrap="none" lIns="0" tIns="0" rIns="0" bIns="0" rtlCol="0" anchor="t"/>
          <a:lstStyle/>
          <a:p>
            <a:pPr marL="0" indent="0" algn="l">
              <a:lnSpc>
                <a:spcPct val="104000"/>
              </a:lnSpc>
              <a:buNone/>
            </a:pPr>
            <a:r>
              <a:rPr lang="en-US" sz="1850" dirty="0">
                <a:solidFill>
                  <a:srgbClr val="2C2821"/>
                </a:solidFill>
                <a:latin typeface="Alice" pitchFamily="34" charset="0"/>
                <a:ea typeface="Alice" pitchFamily="34" charset="-122"/>
                <a:cs typeface="Alice" pitchFamily="34" charset="-120"/>
              </a:rPr>
              <a:t>Unicode Support</a:t>
            </a:r>
            <a:endParaRPr lang="en-US" sz="1850" dirty="0"/>
          </a:p>
        </p:txBody>
      </p:sp>
      <p:sp>
        <p:nvSpPr>
          <p:cNvPr id="14" name="Text 12"/>
          <p:cNvSpPr/>
          <p:nvPr/>
        </p:nvSpPr>
        <p:spPr>
          <a:xfrm>
            <a:off x="9143771" y="2512219"/>
            <a:ext cx="2197442" cy="1209675"/>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2C2821"/>
                </a:solidFill>
                <a:latin typeface="Lora" pitchFamily="34" charset="0"/>
                <a:ea typeface="Lora" pitchFamily="34" charset="-122"/>
                <a:cs typeface="Lora" pitchFamily="34" charset="-120"/>
              </a:rPr>
              <a:t>Handle Indian-language scripts and Unicode normalization to ensure correct matching.</a:t>
            </a:r>
            <a:endParaRPr lang="en-US" sz="1450" dirty="0"/>
          </a:p>
        </p:txBody>
      </p:sp>
      <p:sp>
        <p:nvSpPr>
          <p:cNvPr id="15" name="Shape 13"/>
          <p:cNvSpPr/>
          <p:nvPr/>
        </p:nvSpPr>
        <p:spPr>
          <a:xfrm>
            <a:off x="661475" y="4402336"/>
            <a:ext cx="5339820" cy="1391543"/>
          </a:xfrm>
          <a:prstGeom prst="roundRect">
            <a:avLst>
              <a:gd name="adj" fmla="val 2038"/>
            </a:avLst>
          </a:prstGeom>
          <a:solidFill>
            <a:srgbClr val="F0EDE6"/>
          </a:solidFill>
          <a:ln/>
        </p:spPr>
      </p:sp>
      <p:sp>
        <p:nvSpPr>
          <p:cNvPr id="16" name="Text 14"/>
          <p:cNvSpPr/>
          <p:nvPr/>
        </p:nvSpPr>
        <p:spPr>
          <a:xfrm>
            <a:off x="850482" y="4591348"/>
            <a:ext cx="4961806" cy="295275"/>
          </a:xfrm>
          <a:prstGeom prst="rect">
            <a:avLst/>
          </a:prstGeom>
          <a:noFill/>
          <a:ln/>
        </p:spPr>
        <p:txBody>
          <a:bodyPr wrap="none" lIns="0" tIns="0" rIns="0" bIns="0" rtlCol="0" anchor="t"/>
          <a:lstStyle/>
          <a:p>
            <a:pPr marL="0" indent="0" algn="l">
              <a:lnSpc>
                <a:spcPct val="104000"/>
              </a:lnSpc>
              <a:buNone/>
            </a:pPr>
            <a:r>
              <a:rPr lang="en-US" sz="1850" dirty="0">
                <a:solidFill>
                  <a:srgbClr val="2C2821"/>
                </a:solidFill>
                <a:latin typeface="Alice" pitchFamily="34" charset="0"/>
                <a:ea typeface="Alice" pitchFamily="34" charset="-122"/>
                <a:cs typeface="Alice" pitchFamily="34" charset="-120"/>
              </a:rPr>
              <a:t>Result Retrieval &amp; Ranking</a:t>
            </a:r>
            <a:endParaRPr lang="en-US" sz="1850" dirty="0"/>
          </a:p>
        </p:txBody>
      </p:sp>
      <p:sp>
        <p:nvSpPr>
          <p:cNvPr id="17" name="Text 15"/>
          <p:cNvSpPr/>
          <p:nvPr/>
        </p:nvSpPr>
        <p:spPr>
          <a:xfrm>
            <a:off x="850482" y="5000030"/>
            <a:ext cx="4961806"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2C2821"/>
                </a:solidFill>
                <a:latin typeface="Lora" pitchFamily="34" charset="0"/>
                <a:ea typeface="Lora" pitchFamily="34" charset="-122"/>
                <a:cs typeface="Lora" pitchFamily="34" charset="-120"/>
              </a:rPr>
              <a:t>Return documents ranked by keyword frequency (and simple TF-based ranking) to surface relevance.</a:t>
            </a:r>
            <a:endParaRPr lang="en-US" sz="1450" dirty="0"/>
          </a:p>
        </p:txBody>
      </p:sp>
      <p:sp>
        <p:nvSpPr>
          <p:cNvPr id="18" name="Shape 16"/>
          <p:cNvSpPr/>
          <p:nvPr/>
        </p:nvSpPr>
        <p:spPr>
          <a:xfrm>
            <a:off x="6190301" y="4402336"/>
            <a:ext cx="5339919" cy="1391543"/>
          </a:xfrm>
          <a:prstGeom prst="roundRect">
            <a:avLst>
              <a:gd name="adj" fmla="val 2038"/>
            </a:avLst>
          </a:prstGeom>
          <a:solidFill>
            <a:srgbClr val="F0EDE6"/>
          </a:solidFill>
          <a:ln/>
        </p:spPr>
      </p:sp>
      <p:sp>
        <p:nvSpPr>
          <p:cNvPr id="19" name="Text 17"/>
          <p:cNvSpPr/>
          <p:nvPr/>
        </p:nvSpPr>
        <p:spPr>
          <a:xfrm>
            <a:off x="6379308" y="4591348"/>
            <a:ext cx="4961905" cy="295275"/>
          </a:xfrm>
          <a:prstGeom prst="rect">
            <a:avLst/>
          </a:prstGeom>
          <a:noFill/>
          <a:ln/>
        </p:spPr>
        <p:txBody>
          <a:bodyPr wrap="none" lIns="0" tIns="0" rIns="0" bIns="0" rtlCol="0" anchor="t"/>
          <a:lstStyle/>
          <a:p>
            <a:pPr marL="0" indent="0" algn="l">
              <a:lnSpc>
                <a:spcPct val="104000"/>
              </a:lnSpc>
              <a:buNone/>
            </a:pPr>
            <a:r>
              <a:rPr lang="en-US" sz="1850" dirty="0">
                <a:solidFill>
                  <a:srgbClr val="2C2821"/>
                </a:solidFill>
                <a:latin typeface="Alice" pitchFamily="34" charset="0"/>
                <a:ea typeface="Alice" pitchFamily="34" charset="-122"/>
                <a:cs typeface="Alice" pitchFamily="34" charset="-120"/>
              </a:rPr>
              <a:t>Performance</a:t>
            </a:r>
            <a:endParaRPr lang="en-US" sz="1850" dirty="0"/>
          </a:p>
        </p:txBody>
      </p:sp>
      <p:sp>
        <p:nvSpPr>
          <p:cNvPr id="20" name="Text 18"/>
          <p:cNvSpPr/>
          <p:nvPr/>
        </p:nvSpPr>
        <p:spPr>
          <a:xfrm>
            <a:off x="6379308" y="5000030"/>
            <a:ext cx="4961905"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2C2821"/>
                </a:solidFill>
                <a:latin typeface="Lora" pitchFamily="34" charset="0"/>
                <a:ea typeface="Lora" pitchFamily="34" charset="-122"/>
                <a:cs typeface="Lora" pitchFamily="34" charset="-120"/>
              </a:rPr>
              <a:t>Use indexing and efficient data structures to reduce search latency and support large datasets.</a:t>
            </a:r>
            <a:endParaRPr lang="en-US" sz="1450" dirty="0"/>
          </a:p>
        </p:txBody>
      </p:sp>
      <p:pic>
        <p:nvPicPr>
          <p:cNvPr id="22" name="Picture 21">
            <a:extLst>
              <a:ext uri="{FF2B5EF4-FFF2-40B4-BE49-F238E27FC236}">
                <a16:creationId xmlns:a16="http://schemas.microsoft.com/office/drawing/2014/main" id="{10D07024-AE42-4B7F-7552-4C8DCAB5341D}"/>
              </a:ext>
            </a:extLst>
          </p:cNvPr>
          <p:cNvPicPr>
            <a:picLocks noChangeAspect="1"/>
          </p:cNvPicPr>
          <p:nvPr/>
        </p:nvPicPr>
        <p:blipFill>
          <a:blip r:embed="rId3"/>
          <a:stretch>
            <a:fillRect/>
          </a:stretch>
        </p:blipFill>
        <p:spPr>
          <a:xfrm>
            <a:off x="10115260" y="6344806"/>
            <a:ext cx="2076740" cy="48584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535285"/>
            <a:ext cx="10868745" cy="435670"/>
          </a:xfrm>
          <a:prstGeom prst="rect">
            <a:avLst/>
          </a:prstGeom>
          <a:noFill/>
          <a:ln/>
        </p:spPr>
        <p:txBody>
          <a:bodyPr wrap="none" lIns="0" tIns="0" rIns="0" bIns="0" rtlCol="0" anchor="t"/>
          <a:lstStyle/>
          <a:p>
            <a:pPr marL="0" indent="0" algn="l">
              <a:lnSpc>
                <a:spcPct val="104000"/>
              </a:lnSpc>
              <a:buNone/>
            </a:pPr>
            <a:r>
              <a:rPr lang="en-US" sz="2700" dirty="0">
                <a:solidFill>
                  <a:srgbClr val="233E32"/>
                </a:solidFill>
                <a:latin typeface="Alice" pitchFamily="34" charset="0"/>
                <a:ea typeface="Alice" pitchFamily="34" charset="-122"/>
                <a:cs typeface="Alice" pitchFamily="34" charset="-120"/>
              </a:rPr>
              <a:t>ALGORITHMS, TOOLS AND TECHNOLOGIES </a:t>
            </a:r>
            <a:endParaRPr lang="en-US" sz="2700" dirty="0"/>
          </a:p>
        </p:txBody>
      </p:sp>
      <p:sp>
        <p:nvSpPr>
          <p:cNvPr id="3" name="Shape 1"/>
          <p:cNvSpPr/>
          <p:nvPr/>
        </p:nvSpPr>
        <p:spPr>
          <a:xfrm>
            <a:off x="661475" y="1392535"/>
            <a:ext cx="2417603" cy="2430463"/>
          </a:xfrm>
          <a:prstGeom prst="roundRect">
            <a:avLst>
              <a:gd name="adj" fmla="val 1081"/>
            </a:avLst>
          </a:prstGeom>
          <a:solidFill>
            <a:srgbClr val="FCFBF8"/>
          </a:solidFill>
          <a:ln w="19050">
            <a:solidFill>
              <a:srgbClr val="D6D3CC"/>
            </a:solidFill>
            <a:prstDash val="solid"/>
          </a:ln>
        </p:spPr>
      </p:sp>
      <p:sp>
        <p:nvSpPr>
          <p:cNvPr id="4" name="Text 2"/>
          <p:cNvSpPr/>
          <p:nvPr/>
        </p:nvSpPr>
        <p:spPr>
          <a:xfrm>
            <a:off x="854748" y="1585813"/>
            <a:ext cx="2031056" cy="544314"/>
          </a:xfrm>
          <a:prstGeom prst="rect">
            <a:avLst/>
          </a:prstGeom>
          <a:noFill/>
          <a:ln/>
        </p:spPr>
        <p:txBody>
          <a:bodyPr wrap="square" lIns="0" tIns="0" rIns="0" bIns="0" rtlCol="0" anchor="t">
            <a:normAutofit/>
          </a:bodyPr>
          <a:lstStyle/>
          <a:p>
            <a:pPr marL="0" indent="0" algn="l">
              <a:lnSpc>
                <a:spcPct val="104000"/>
              </a:lnSpc>
              <a:buNone/>
            </a:pPr>
            <a:r>
              <a:rPr lang="en-US" sz="1700" dirty="0">
                <a:solidFill>
                  <a:srgbClr val="2C2821"/>
                </a:solidFill>
                <a:latin typeface="Alice" pitchFamily="34" charset="0"/>
                <a:ea typeface="Alice" pitchFamily="34" charset="-122"/>
                <a:cs typeface="Alice" pitchFamily="34" charset="-120"/>
              </a:rPr>
              <a:t>Programming Language</a:t>
            </a:r>
            <a:endParaRPr lang="en-US" sz="1700" dirty="0"/>
          </a:p>
        </p:txBody>
      </p:sp>
      <p:sp>
        <p:nvSpPr>
          <p:cNvPr id="5" name="Text 3"/>
          <p:cNvSpPr/>
          <p:nvPr/>
        </p:nvSpPr>
        <p:spPr>
          <a:xfrm>
            <a:off x="854748" y="2290763"/>
            <a:ext cx="2031056" cy="1338957"/>
          </a:xfrm>
          <a:prstGeom prst="rect">
            <a:avLst/>
          </a:prstGeom>
          <a:noFill/>
          <a:ln/>
        </p:spPr>
        <p:txBody>
          <a:bodyPr wrap="square" lIns="0" tIns="0" rIns="0" bIns="0" rtlCol="0" anchor="t">
            <a:normAutofit/>
          </a:bodyPr>
          <a:lstStyle/>
          <a:p>
            <a:pPr marL="0" indent="0" algn="l">
              <a:lnSpc>
                <a:spcPct val="128000"/>
              </a:lnSpc>
              <a:buNone/>
            </a:pPr>
            <a:r>
              <a:rPr lang="en-US" sz="1350" b="1" dirty="0">
                <a:solidFill>
                  <a:srgbClr val="2C2821"/>
                </a:solidFill>
                <a:latin typeface="Lora Bold" pitchFamily="34" charset="0"/>
                <a:ea typeface="Lora Bold" pitchFamily="34" charset="-122"/>
                <a:cs typeface="Lora Bold" pitchFamily="34" charset="-120"/>
              </a:rPr>
              <a:t>Java</a:t>
            </a:r>
            <a:r>
              <a:rPr lang="en-US" sz="1350" dirty="0">
                <a:solidFill>
                  <a:srgbClr val="2C2821"/>
                </a:solidFill>
                <a:latin typeface="Lora" pitchFamily="34" charset="0"/>
                <a:ea typeface="Lora" pitchFamily="34" charset="-122"/>
                <a:cs typeface="Lora" pitchFamily="34" charset="-120"/>
              </a:rPr>
              <a:t> — core implementation language for indexing, search, and preprocessing.</a:t>
            </a:r>
            <a:endParaRPr lang="en-US" sz="1350" dirty="0"/>
          </a:p>
        </p:txBody>
      </p:sp>
      <p:sp>
        <p:nvSpPr>
          <p:cNvPr id="6" name="Shape 4"/>
          <p:cNvSpPr/>
          <p:nvPr/>
        </p:nvSpPr>
        <p:spPr>
          <a:xfrm>
            <a:off x="3239709" y="1392535"/>
            <a:ext cx="2417702" cy="2430463"/>
          </a:xfrm>
          <a:prstGeom prst="roundRect">
            <a:avLst>
              <a:gd name="adj" fmla="val 1081"/>
            </a:avLst>
          </a:prstGeom>
          <a:solidFill>
            <a:srgbClr val="FCFBF8"/>
          </a:solidFill>
          <a:ln w="19050">
            <a:solidFill>
              <a:srgbClr val="D6D3CC"/>
            </a:solidFill>
            <a:prstDash val="solid"/>
          </a:ln>
        </p:spPr>
      </p:sp>
      <p:sp>
        <p:nvSpPr>
          <p:cNvPr id="7" name="Text 5"/>
          <p:cNvSpPr/>
          <p:nvPr/>
        </p:nvSpPr>
        <p:spPr>
          <a:xfrm>
            <a:off x="3432982" y="1585813"/>
            <a:ext cx="2031155" cy="272157"/>
          </a:xfrm>
          <a:prstGeom prst="rect">
            <a:avLst/>
          </a:prstGeom>
          <a:noFill/>
          <a:ln/>
        </p:spPr>
        <p:txBody>
          <a:bodyPr wrap="none" lIns="0" tIns="0" rIns="0" bIns="0" rtlCol="0" anchor="t"/>
          <a:lstStyle/>
          <a:p>
            <a:pPr marL="0" indent="0" algn="l">
              <a:lnSpc>
                <a:spcPct val="104000"/>
              </a:lnSpc>
              <a:buNone/>
            </a:pPr>
            <a:r>
              <a:rPr lang="en-US" sz="1700" dirty="0">
                <a:solidFill>
                  <a:srgbClr val="2C2821"/>
                </a:solidFill>
                <a:latin typeface="Alice" pitchFamily="34" charset="0"/>
                <a:ea typeface="Alice" pitchFamily="34" charset="-122"/>
                <a:cs typeface="Alice" pitchFamily="34" charset="-120"/>
              </a:rPr>
              <a:t>Data Structures</a:t>
            </a:r>
            <a:endParaRPr lang="en-US" sz="1700" dirty="0"/>
          </a:p>
        </p:txBody>
      </p:sp>
      <p:sp>
        <p:nvSpPr>
          <p:cNvPr id="8" name="Text 6"/>
          <p:cNvSpPr/>
          <p:nvPr/>
        </p:nvSpPr>
        <p:spPr>
          <a:xfrm>
            <a:off x="3432982" y="2018605"/>
            <a:ext cx="2031155" cy="1071166"/>
          </a:xfrm>
          <a:prstGeom prst="rect">
            <a:avLst/>
          </a:prstGeom>
          <a:noFill/>
          <a:ln/>
        </p:spPr>
        <p:txBody>
          <a:bodyPr wrap="square" lIns="0" tIns="0" rIns="0" bIns="0" rtlCol="0" anchor="t">
            <a:normAutofit/>
          </a:bodyPr>
          <a:lstStyle/>
          <a:p>
            <a:pPr marL="0" indent="0" algn="l">
              <a:lnSpc>
                <a:spcPct val="128000"/>
              </a:lnSpc>
              <a:buNone/>
            </a:pPr>
            <a:r>
              <a:rPr lang="en-US" sz="1350" b="1" dirty="0">
                <a:solidFill>
                  <a:srgbClr val="2C2821"/>
                </a:solidFill>
                <a:latin typeface="Lora Bold" pitchFamily="34" charset="0"/>
                <a:ea typeface="Lora Bold" pitchFamily="34" charset="-122"/>
                <a:cs typeface="Lora Bold" pitchFamily="34" charset="-120"/>
              </a:rPr>
              <a:t>Inverted index</a:t>
            </a:r>
            <a:r>
              <a:rPr lang="en-US" sz="1350" dirty="0">
                <a:solidFill>
                  <a:srgbClr val="2C2821"/>
                </a:solidFill>
                <a:latin typeface="Lora" pitchFamily="34" charset="0"/>
                <a:ea typeface="Lora" pitchFamily="34" charset="-122"/>
                <a:cs typeface="Lora" pitchFamily="34" charset="-120"/>
              </a:rPr>
              <a:t>, posting lists, maps, and token sets for fast lookup and retrieval.</a:t>
            </a:r>
            <a:endParaRPr lang="en-US" sz="1350" dirty="0"/>
          </a:p>
        </p:txBody>
      </p:sp>
      <p:sp>
        <p:nvSpPr>
          <p:cNvPr id="9" name="Shape 7"/>
          <p:cNvSpPr/>
          <p:nvPr/>
        </p:nvSpPr>
        <p:spPr>
          <a:xfrm>
            <a:off x="661475" y="3983633"/>
            <a:ext cx="2417603" cy="2158305"/>
          </a:xfrm>
          <a:prstGeom prst="roundRect">
            <a:avLst>
              <a:gd name="adj" fmla="val 1211"/>
            </a:avLst>
          </a:prstGeom>
          <a:solidFill>
            <a:srgbClr val="FCFBF8"/>
          </a:solidFill>
          <a:ln w="19050">
            <a:solidFill>
              <a:srgbClr val="D6D3CC"/>
            </a:solidFill>
            <a:prstDash val="solid"/>
          </a:ln>
        </p:spPr>
      </p:sp>
      <p:sp>
        <p:nvSpPr>
          <p:cNvPr id="10" name="Text 8"/>
          <p:cNvSpPr/>
          <p:nvPr/>
        </p:nvSpPr>
        <p:spPr>
          <a:xfrm>
            <a:off x="854748" y="4176911"/>
            <a:ext cx="2031056" cy="272157"/>
          </a:xfrm>
          <a:prstGeom prst="rect">
            <a:avLst/>
          </a:prstGeom>
          <a:noFill/>
          <a:ln/>
        </p:spPr>
        <p:txBody>
          <a:bodyPr wrap="none" lIns="0" tIns="0" rIns="0" bIns="0" rtlCol="0" anchor="t"/>
          <a:lstStyle/>
          <a:p>
            <a:pPr marL="0" indent="0" algn="l">
              <a:lnSpc>
                <a:spcPct val="104000"/>
              </a:lnSpc>
              <a:buNone/>
            </a:pPr>
            <a:r>
              <a:rPr lang="en-US" sz="1700" dirty="0">
                <a:solidFill>
                  <a:srgbClr val="2C2821"/>
                </a:solidFill>
                <a:latin typeface="Alice" pitchFamily="34" charset="0"/>
                <a:ea typeface="Alice" pitchFamily="34" charset="-122"/>
                <a:cs typeface="Alice" pitchFamily="34" charset="-120"/>
              </a:rPr>
              <a:t>Algorithms</a:t>
            </a:r>
            <a:endParaRPr lang="en-US" sz="1700" dirty="0"/>
          </a:p>
        </p:txBody>
      </p:sp>
      <p:sp>
        <p:nvSpPr>
          <p:cNvPr id="11" name="Text 9"/>
          <p:cNvSpPr/>
          <p:nvPr/>
        </p:nvSpPr>
        <p:spPr>
          <a:xfrm>
            <a:off x="854748" y="4609703"/>
            <a:ext cx="2031056" cy="1338957"/>
          </a:xfrm>
          <a:prstGeom prst="rect">
            <a:avLst/>
          </a:prstGeom>
          <a:noFill/>
          <a:ln/>
        </p:spPr>
        <p:txBody>
          <a:bodyPr wrap="square" lIns="0" tIns="0" rIns="0" bIns="0" rtlCol="0" anchor="t">
            <a:normAutofit/>
          </a:bodyPr>
          <a:lstStyle/>
          <a:p>
            <a:pPr marL="0" indent="0" algn="l">
              <a:lnSpc>
                <a:spcPct val="128000"/>
              </a:lnSpc>
              <a:buNone/>
            </a:pPr>
            <a:r>
              <a:rPr lang="en-US" sz="1350" b="1" dirty="0">
                <a:solidFill>
                  <a:srgbClr val="2C2821"/>
                </a:solidFill>
                <a:latin typeface="Lora Bold" pitchFamily="34" charset="0"/>
                <a:ea typeface="Lora Bold" pitchFamily="34" charset="-122"/>
                <a:cs typeface="Lora Bold" pitchFamily="34" charset="-120"/>
              </a:rPr>
              <a:t>Tokenization</a:t>
            </a:r>
            <a:r>
              <a:rPr lang="en-US" sz="1350" dirty="0">
                <a:solidFill>
                  <a:srgbClr val="2C2821"/>
                </a:solidFill>
                <a:latin typeface="Lora" pitchFamily="34" charset="0"/>
                <a:ea typeface="Lora" pitchFamily="34" charset="-122"/>
                <a:cs typeface="Lora" pitchFamily="34" charset="-120"/>
              </a:rPr>
              <a:t>, normalization, indexing, and ranking to support efficient keyword search.</a:t>
            </a:r>
            <a:endParaRPr lang="en-US" sz="1350" dirty="0"/>
          </a:p>
        </p:txBody>
      </p:sp>
      <p:sp>
        <p:nvSpPr>
          <p:cNvPr id="12" name="Shape 10"/>
          <p:cNvSpPr/>
          <p:nvPr/>
        </p:nvSpPr>
        <p:spPr>
          <a:xfrm>
            <a:off x="3239709" y="3983633"/>
            <a:ext cx="2417702" cy="2158305"/>
          </a:xfrm>
          <a:prstGeom prst="roundRect">
            <a:avLst>
              <a:gd name="adj" fmla="val 1211"/>
            </a:avLst>
          </a:prstGeom>
          <a:solidFill>
            <a:srgbClr val="FCFBF8"/>
          </a:solidFill>
          <a:ln w="19050">
            <a:solidFill>
              <a:srgbClr val="D6D3CC"/>
            </a:solidFill>
            <a:prstDash val="solid"/>
          </a:ln>
        </p:spPr>
      </p:sp>
      <p:sp>
        <p:nvSpPr>
          <p:cNvPr id="13" name="Text 11"/>
          <p:cNvSpPr/>
          <p:nvPr/>
        </p:nvSpPr>
        <p:spPr>
          <a:xfrm>
            <a:off x="3432982" y="4176911"/>
            <a:ext cx="2031155" cy="272157"/>
          </a:xfrm>
          <a:prstGeom prst="rect">
            <a:avLst/>
          </a:prstGeom>
          <a:noFill/>
          <a:ln/>
        </p:spPr>
        <p:txBody>
          <a:bodyPr wrap="none" lIns="0" tIns="0" rIns="0" bIns="0" rtlCol="0" anchor="t"/>
          <a:lstStyle/>
          <a:p>
            <a:pPr marL="0" indent="0" algn="l">
              <a:lnSpc>
                <a:spcPct val="104000"/>
              </a:lnSpc>
              <a:buNone/>
            </a:pPr>
            <a:r>
              <a:rPr lang="en-US" sz="1700" dirty="0">
                <a:solidFill>
                  <a:srgbClr val="2C2821"/>
                </a:solidFill>
                <a:latin typeface="Alice" pitchFamily="34" charset="0"/>
                <a:ea typeface="Alice" pitchFamily="34" charset="-122"/>
                <a:cs typeface="Alice" pitchFamily="34" charset="-120"/>
              </a:rPr>
              <a:t>Storage</a:t>
            </a:r>
            <a:endParaRPr lang="en-US" sz="1700" dirty="0"/>
          </a:p>
        </p:txBody>
      </p:sp>
      <p:sp>
        <p:nvSpPr>
          <p:cNvPr id="14" name="Text 12"/>
          <p:cNvSpPr/>
          <p:nvPr/>
        </p:nvSpPr>
        <p:spPr>
          <a:xfrm>
            <a:off x="3432982" y="4609703"/>
            <a:ext cx="2031155" cy="1071166"/>
          </a:xfrm>
          <a:prstGeom prst="rect">
            <a:avLst/>
          </a:prstGeom>
          <a:noFill/>
          <a:ln/>
        </p:spPr>
        <p:txBody>
          <a:bodyPr wrap="square" lIns="0" tIns="0" rIns="0" bIns="0" rtlCol="0" anchor="t">
            <a:normAutofit/>
          </a:bodyPr>
          <a:lstStyle/>
          <a:p>
            <a:pPr marL="0" indent="0" algn="l">
              <a:lnSpc>
                <a:spcPct val="128000"/>
              </a:lnSpc>
              <a:buNone/>
            </a:pPr>
            <a:r>
              <a:rPr lang="en-US" sz="1350" b="1" dirty="0">
                <a:solidFill>
                  <a:srgbClr val="2C2821"/>
                </a:solidFill>
                <a:latin typeface="Lora Bold" pitchFamily="34" charset="0"/>
                <a:ea typeface="Lora Bold" pitchFamily="34" charset="-122"/>
                <a:cs typeface="Lora Bold" pitchFamily="34" charset="-120"/>
              </a:rPr>
              <a:t>File-based storage</a:t>
            </a:r>
            <a:r>
              <a:rPr lang="en-US" sz="1350" dirty="0">
                <a:solidFill>
                  <a:srgbClr val="2C2821"/>
                </a:solidFill>
                <a:latin typeface="Lora" pitchFamily="34" charset="0"/>
                <a:ea typeface="Lora" pitchFamily="34" charset="-122"/>
                <a:cs typeface="Lora" pitchFamily="34" charset="-120"/>
              </a:rPr>
              <a:t> with JSON for persistent documents and index artifacts.</a:t>
            </a:r>
            <a:endParaRPr lang="en-US" sz="1350" dirty="0"/>
          </a:p>
        </p:txBody>
      </p:sp>
      <p:sp>
        <p:nvSpPr>
          <p:cNvPr id="15" name="Shape 13"/>
          <p:cNvSpPr/>
          <p:nvPr/>
        </p:nvSpPr>
        <p:spPr>
          <a:xfrm>
            <a:off x="6088803" y="1392535"/>
            <a:ext cx="2643518" cy="1622723"/>
          </a:xfrm>
          <a:prstGeom prst="roundRect">
            <a:avLst>
              <a:gd name="adj" fmla="val 1611"/>
            </a:avLst>
          </a:prstGeom>
          <a:solidFill>
            <a:srgbClr val="FCFBF8"/>
          </a:solidFill>
          <a:ln w="19050">
            <a:solidFill>
              <a:srgbClr val="D6D3CC"/>
            </a:solidFill>
            <a:prstDash val="solid"/>
          </a:ln>
        </p:spPr>
      </p:sp>
      <p:sp>
        <p:nvSpPr>
          <p:cNvPr id="16" name="Text 14"/>
          <p:cNvSpPr/>
          <p:nvPr/>
        </p:nvSpPr>
        <p:spPr>
          <a:xfrm>
            <a:off x="6282076" y="1585813"/>
            <a:ext cx="2256972" cy="272157"/>
          </a:xfrm>
          <a:prstGeom prst="rect">
            <a:avLst/>
          </a:prstGeom>
          <a:noFill/>
          <a:ln/>
        </p:spPr>
        <p:txBody>
          <a:bodyPr wrap="none" lIns="0" tIns="0" rIns="0" bIns="0" rtlCol="0" anchor="t"/>
          <a:lstStyle/>
          <a:p>
            <a:pPr marL="0" indent="0" algn="l">
              <a:lnSpc>
                <a:spcPct val="104000"/>
              </a:lnSpc>
              <a:buNone/>
            </a:pPr>
            <a:r>
              <a:rPr lang="en-US" sz="1700" dirty="0">
                <a:solidFill>
                  <a:srgbClr val="2C2821"/>
                </a:solidFill>
                <a:latin typeface="Alice" pitchFamily="34" charset="0"/>
                <a:ea typeface="Alice" pitchFamily="34" charset="-122"/>
                <a:cs typeface="Alice" pitchFamily="34" charset="-120"/>
              </a:rPr>
              <a:t>Database / Storage</a:t>
            </a:r>
            <a:endParaRPr lang="en-US" sz="1700" dirty="0"/>
          </a:p>
        </p:txBody>
      </p:sp>
      <p:sp>
        <p:nvSpPr>
          <p:cNvPr id="17" name="Text 15"/>
          <p:cNvSpPr/>
          <p:nvPr/>
        </p:nvSpPr>
        <p:spPr>
          <a:xfrm>
            <a:off x="6282076" y="2018605"/>
            <a:ext cx="2256972" cy="803374"/>
          </a:xfrm>
          <a:prstGeom prst="rect">
            <a:avLst/>
          </a:prstGeom>
          <a:noFill/>
          <a:ln/>
        </p:spPr>
        <p:txBody>
          <a:bodyPr wrap="square" lIns="0" tIns="0" rIns="0" bIns="0" rtlCol="0" anchor="t">
            <a:normAutofit/>
          </a:bodyPr>
          <a:lstStyle/>
          <a:p>
            <a:pPr marL="0" indent="0" algn="l">
              <a:lnSpc>
                <a:spcPct val="128000"/>
              </a:lnSpc>
              <a:buNone/>
            </a:pPr>
            <a:r>
              <a:rPr lang="en-US" sz="1350" dirty="0">
                <a:solidFill>
                  <a:srgbClr val="2C2821"/>
                </a:solidFill>
                <a:latin typeface="Lora" pitchFamily="34" charset="0"/>
                <a:ea typeface="Lora" pitchFamily="34" charset="-122"/>
                <a:cs typeface="Lora" pitchFamily="34" charset="-120"/>
              </a:rPr>
              <a:t>JSON-backed file storage for corpus records and generated index structures.</a:t>
            </a:r>
            <a:endParaRPr lang="en-US" sz="1350" dirty="0"/>
          </a:p>
        </p:txBody>
      </p:sp>
      <p:sp>
        <p:nvSpPr>
          <p:cNvPr id="18" name="Shape 16"/>
          <p:cNvSpPr/>
          <p:nvPr/>
        </p:nvSpPr>
        <p:spPr>
          <a:xfrm>
            <a:off x="8892953" y="1392535"/>
            <a:ext cx="2643518" cy="1622723"/>
          </a:xfrm>
          <a:prstGeom prst="roundRect">
            <a:avLst>
              <a:gd name="adj" fmla="val 1611"/>
            </a:avLst>
          </a:prstGeom>
          <a:solidFill>
            <a:srgbClr val="FCFBF8"/>
          </a:solidFill>
          <a:ln w="19050">
            <a:solidFill>
              <a:srgbClr val="D6D3CC"/>
            </a:solidFill>
            <a:prstDash val="solid"/>
          </a:ln>
        </p:spPr>
      </p:sp>
      <p:sp>
        <p:nvSpPr>
          <p:cNvPr id="19" name="Text 17"/>
          <p:cNvSpPr/>
          <p:nvPr/>
        </p:nvSpPr>
        <p:spPr>
          <a:xfrm>
            <a:off x="9086226" y="1585813"/>
            <a:ext cx="2256972" cy="272157"/>
          </a:xfrm>
          <a:prstGeom prst="rect">
            <a:avLst/>
          </a:prstGeom>
          <a:noFill/>
          <a:ln/>
        </p:spPr>
        <p:txBody>
          <a:bodyPr wrap="none" lIns="0" tIns="0" rIns="0" bIns="0" rtlCol="0" anchor="t"/>
          <a:lstStyle/>
          <a:p>
            <a:pPr marL="0" indent="0" algn="l">
              <a:lnSpc>
                <a:spcPct val="104000"/>
              </a:lnSpc>
              <a:buNone/>
            </a:pPr>
            <a:r>
              <a:rPr lang="en-US" sz="1700" dirty="0">
                <a:solidFill>
                  <a:srgbClr val="2C2821"/>
                </a:solidFill>
                <a:latin typeface="Alice" pitchFamily="34" charset="0"/>
                <a:ea typeface="Alice" pitchFamily="34" charset="-122"/>
                <a:cs typeface="Alice" pitchFamily="34" charset="-120"/>
              </a:rPr>
              <a:t>Dataset</a:t>
            </a:r>
            <a:endParaRPr lang="en-US" sz="1700" dirty="0"/>
          </a:p>
        </p:txBody>
      </p:sp>
      <p:sp>
        <p:nvSpPr>
          <p:cNvPr id="20" name="Text 18"/>
          <p:cNvSpPr/>
          <p:nvPr/>
        </p:nvSpPr>
        <p:spPr>
          <a:xfrm>
            <a:off x="9086226" y="2018605"/>
            <a:ext cx="2256972" cy="803374"/>
          </a:xfrm>
          <a:prstGeom prst="rect">
            <a:avLst/>
          </a:prstGeom>
          <a:noFill/>
          <a:ln/>
        </p:spPr>
        <p:txBody>
          <a:bodyPr wrap="square" lIns="0" tIns="0" rIns="0" bIns="0" rtlCol="0" anchor="t">
            <a:normAutofit/>
          </a:bodyPr>
          <a:lstStyle/>
          <a:p>
            <a:pPr marL="0" indent="0" algn="l">
              <a:lnSpc>
                <a:spcPct val="128000"/>
              </a:lnSpc>
              <a:buNone/>
            </a:pPr>
            <a:r>
              <a:rPr lang="en-US" sz="1350" dirty="0">
                <a:solidFill>
                  <a:srgbClr val="2C2821"/>
                </a:solidFill>
                <a:latin typeface="Lora" pitchFamily="34" charset="0"/>
                <a:ea typeface="Lora" pitchFamily="34" charset="-122"/>
                <a:cs typeface="Lora" pitchFamily="34" charset="-120"/>
              </a:rPr>
              <a:t>Indian-language Wikipedia corpus used as the primary source of documents.</a:t>
            </a:r>
            <a:endParaRPr lang="en-US" sz="1350" dirty="0"/>
          </a:p>
        </p:txBody>
      </p:sp>
      <p:sp>
        <p:nvSpPr>
          <p:cNvPr id="21" name="Shape 19"/>
          <p:cNvSpPr/>
          <p:nvPr/>
        </p:nvSpPr>
        <p:spPr>
          <a:xfrm>
            <a:off x="6088803" y="3175893"/>
            <a:ext cx="2643518" cy="1894880"/>
          </a:xfrm>
          <a:prstGeom prst="roundRect">
            <a:avLst>
              <a:gd name="adj" fmla="val 1379"/>
            </a:avLst>
          </a:prstGeom>
          <a:solidFill>
            <a:srgbClr val="FCFBF8"/>
          </a:solidFill>
          <a:ln w="19050">
            <a:solidFill>
              <a:srgbClr val="D6D3CC"/>
            </a:solidFill>
            <a:prstDash val="solid"/>
          </a:ln>
        </p:spPr>
      </p:sp>
      <p:sp>
        <p:nvSpPr>
          <p:cNvPr id="22" name="Text 20"/>
          <p:cNvSpPr/>
          <p:nvPr/>
        </p:nvSpPr>
        <p:spPr>
          <a:xfrm>
            <a:off x="6282076" y="3369171"/>
            <a:ext cx="2256972" cy="544314"/>
          </a:xfrm>
          <a:prstGeom prst="rect">
            <a:avLst/>
          </a:prstGeom>
          <a:noFill/>
          <a:ln/>
        </p:spPr>
        <p:txBody>
          <a:bodyPr wrap="square" lIns="0" tIns="0" rIns="0" bIns="0" rtlCol="0" anchor="t">
            <a:normAutofit/>
          </a:bodyPr>
          <a:lstStyle/>
          <a:p>
            <a:pPr marL="0" indent="0" algn="l">
              <a:lnSpc>
                <a:spcPct val="104000"/>
              </a:lnSpc>
              <a:buNone/>
            </a:pPr>
            <a:r>
              <a:rPr lang="en-US" sz="1700" dirty="0">
                <a:solidFill>
                  <a:srgbClr val="2C2821"/>
                </a:solidFill>
                <a:latin typeface="Alice" pitchFamily="34" charset="0"/>
                <a:ea typeface="Alice" pitchFamily="34" charset="-122"/>
                <a:cs typeface="Alice" pitchFamily="34" charset="-120"/>
              </a:rPr>
              <a:t>Development Environment</a:t>
            </a:r>
            <a:endParaRPr lang="en-US" sz="1700" dirty="0"/>
          </a:p>
        </p:txBody>
      </p:sp>
      <p:sp>
        <p:nvSpPr>
          <p:cNvPr id="23" name="Text 21"/>
          <p:cNvSpPr/>
          <p:nvPr/>
        </p:nvSpPr>
        <p:spPr>
          <a:xfrm>
            <a:off x="6282076" y="4074120"/>
            <a:ext cx="2256972" cy="803374"/>
          </a:xfrm>
          <a:prstGeom prst="rect">
            <a:avLst/>
          </a:prstGeom>
          <a:noFill/>
          <a:ln/>
        </p:spPr>
        <p:txBody>
          <a:bodyPr wrap="square" lIns="0" tIns="0" rIns="0" bIns="0" rtlCol="0" anchor="t">
            <a:normAutofit/>
          </a:bodyPr>
          <a:lstStyle/>
          <a:p>
            <a:pPr marL="0" indent="0" algn="l">
              <a:lnSpc>
                <a:spcPct val="128000"/>
              </a:lnSpc>
              <a:buNone/>
            </a:pPr>
            <a:r>
              <a:rPr lang="en-US" sz="1350" dirty="0">
                <a:solidFill>
                  <a:srgbClr val="2C2821"/>
                </a:solidFill>
                <a:latin typeface="Lora" pitchFamily="34" charset="0"/>
                <a:ea typeface="Lora" pitchFamily="34" charset="-122"/>
                <a:cs typeface="Lora" pitchFamily="34" charset="-120"/>
              </a:rPr>
              <a:t>VS Code and IntelliJ IDEA for coding, debugging, and local testing.</a:t>
            </a:r>
            <a:endParaRPr lang="en-US" sz="1350" dirty="0"/>
          </a:p>
        </p:txBody>
      </p:sp>
      <p:sp>
        <p:nvSpPr>
          <p:cNvPr id="24" name="Shape 22"/>
          <p:cNvSpPr/>
          <p:nvPr/>
        </p:nvSpPr>
        <p:spPr>
          <a:xfrm>
            <a:off x="8892953" y="3175893"/>
            <a:ext cx="2643518" cy="1894880"/>
          </a:xfrm>
          <a:prstGeom prst="roundRect">
            <a:avLst>
              <a:gd name="adj" fmla="val 1379"/>
            </a:avLst>
          </a:prstGeom>
          <a:solidFill>
            <a:srgbClr val="FCFBF8"/>
          </a:solidFill>
          <a:ln w="19050">
            <a:solidFill>
              <a:srgbClr val="D6D3CC"/>
            </a:solidFill>
            <a:prstDash val="solid"/>
          </a:ln>
        </p:spPr>
      </p:sp>
      <p:sp>
        <p:nvSpPr>
          <p:cNvPr id="25" name="Text 23"/>
          <p:cNvSpPr/>
          <p:nvPr/>
        </p:nvSpPr>
        <p:spPr>
          <a:xfrm>
            <a:off x="9086226" y="3369171"/>
            <a:ext cx="2256972" cy="272157"/>
          </a:xfrm>
          <a:prstGeom prst="rect">
            <a:avLst/>
          </a:prstGeom>
          <a:noFill/>
          <a:ln/>
        </p:spPr>
        <p:txBody>
          <a:bodyPr wrap="none" lIns="0" tIns="0" rIns="0" bIns="0" rtlCol="0" anchor="t"/>
          <a:lstStyle/>
          <a:p>
            <a:pPr marL="0" indent="0" algn="l">
              <a:lnSpc>
                <a:spcPct val="104000"/>
              </a:lnSpc>
              <a:buNone/>
            </a:pPr>
            <a:r>
              <a:rPr lang="en-US" sz="1700" dirty="0">
                <a:solidFill>
                  <a:srgbClr val="2C2821"/>
                </a:solidFill>
                <a:latin typeface="Alice" pitchFamily="34" charset="0"/>
                <a:ea typeface="Alice" pitchFamily="34" charset="-122"/>
                <a:cs typeface="Alice" pitchFamily="34" charset="-120"/>
              </a:rPr>
              <a:t>Version Control</a:t>
            </a:r>
            <a:endParaRPr lang="en-US" sz="1700" dirty="0"/>
          </a:p>
        </p:txBody>
      </p:sp>
      <p:sp>
        <p:nvSpPr>
          <p:cNvPr id="26" name="Text 24"/>
          <p:cNvSpPr/>
          <p:nvPr/>
        </p:nvSpPr>
        <p:spPr>
          <a:xfrm>
            <a:off x="9086226" y="3801963"/>
            <a:ext cx="2256972" cy="803374"/>
          </a:xfrm>
          <a:prstGeom prst="rect">
            <a:avLst/>
          </a:prstGeom>
          <a:noFill/>
          <a:ln/>
        </p:spPr>
        <p:txBody>
          <a:bodyPr wrap="square" lIns="0" tIns="0" rIns="0" bIns="0" rtlCol="0" anchor="t">
            <a:normAutofit/>
          </a:bodyPr>
          <a:lstStyle/>
          <a:p>
            <a:pPr marL="0" indent="0" algn="l">
              <a:lnSpc>
                <a:spcPct val="128000"/>
              </a:lnSpc>
              <a:buNone/>
            </a:pPr>
            <a:r>
              <a:rPr lang="en-US" sz="1350" dirty="0">
                <a:solidFill>
                  <a:srgbClr val="2C2821"/>
                </a:solidFill>
                <a:latin typeface="Lora" pitchFamily="34" charset="0"/>
                <a:ea typeface="Lora" pitchFamily="34" charset="-122"/>
                <a:cs typeface="Lora" pitchFamily="34" charset="-120"/>
              </a:rPr>
              <a:t>Git and GitHub for source control, collaboration, and change tracking.</a:t>
            </a:r>
            <a:endParaRPr lang="en-US" sz="1350" dirty="0"/>
          </a:p>
        </p:txBody>
      </p:sp>
      <p:pic>
        <p:nvPicPr>
          <p:cNvPr id="28" name="Picture 27">
            <a:extLst>
              <a:ext uri="{FF2B5EF4-FFF2-40B4-BE49-F238E27FC236}">
                <a16:creationId xmlns:a16="http://schemas.microsoft.com/office/drawing/2014/main" id="{F5AA5DB6-A54B-51CF-ED91-E6D663CB7F3C}"/>
              </a:ext>
            </a:extLst>
          </p:cNvPr>
          <p:cNvPicPr>
            <a:picLocks noChangeAspect="1"/>
          </p:cNvPicPr>
          <p:nvPr/>
        </p:nvPicPr>
        <p:blipFill>
          <a:blip r:embed="rId3"/>
          <a:stretch>
            <a:fillRect/>
          </a:stretch>
        </p:blipFill>
        <p:spPr>
          <a:xfrm>
            <a:off x="10115260" y="6304874"/>
            <a:ext cx="2076740" cy="48584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854174"/>
            <a:ext cx="10868745" cy="472480"/>
          </a:xfrm>
          <a:prstGeom prst="rect">
            <a:avLst/>
          </a:prstGeom>
          <a:noFill/>
          <a:ln/>
        </p:spPr>
        <p:txBody>
          <a:bodyPr wrap="none" lIns="0" tIns="0" rIns="0" bIns="0" rtlCol="0" anchor="t"/>
          <a:lstStyle/>
          <a:p>
            <a:pPr marL="0" indent="0" algn="l">
              <a:lnSpc>
                <a:spcPct val="104000"/>
              </a:lnSpc>
              <a:buNone/>
            </a:pPr>
            <a:r>
              <a:rPr lang="en-US" sz="2950" dirty="0">
                <a:solidFill>
                  <a:srgbClr val="233E32"/>
                </a:solidFill>
                <a:latin typeface="Alice" pitchFamily="34" charset="0"/>
                <a:ea typeface="Alice" pitchFamily="34" charset="-122"/>
                <a:cs typeface="Alice" pitchFamily="34" charset="-120"/>
              </a:rPr>
              <a:t>Expected Outcome</a:t>
            </a:r>
            <a:endParaRPr lang="en-US" sz="2950" dirty="0"/>
          </a:p>
        </p:txBody>
      </p:sp>
      <p:sp>
        <p:nvSpPr>
          <p:cNvPr id="3" name="Text 1"/>
          <p:cNvSpPr/>
          <p:nvPr/>
        </p:nvSpPr>
        <p:spPr>
          <a:xfrm>
            <a:off x="661475" y="1704677"/>
            <a:ext cx="10868745" cy="4299148"/>
          </a:xfrm>
          <a:prstGeom prst="rect">
            <a:avLst/>
          </a:prstGeom>
          <a:noFill/>
          <a:ln/>
        </p:spPr>
        <p:txBody>
          <a:bodyPr wrap="square" lIns="0" tIns="0" rIns="0" bIns="0" rtlCol="0" anchor="t"/>
          <a:lstStyle/>
          <a:p>
            <a:pPr marL="0" indent="0" algn="l">
              <a:lnSpc>
                <a:spcPct val="133000"/>
              </a:lnSpc>
              <a:spcAft>
                <a:spcPts val="1650"/>
              </a:spcAft>
              <a:buNone/>
            </a:pPr>
            <a:r>
              <a:rPr lang="en-US" sz="1850" dirty="0">
                <a:solidFill>
                  <a:srgbClr val="2C2821"/>
                </a:solidFill>
                <a:latin typeface="Lora" pitchFamily="34" charset="0"/>
                <a:ea typeface="Lora" pitchFamily="34" charset="-122"/>
                <a:cs typeface="Lora" pitchFamily="34" charset="-120"/>
              </a:rPr>
              <a:t>•Develop a fast keyword-based search engine for Indian-language Wikipedia data.</a:t>
            </a:r>
            <a:endParaRPr lang="en-US" sz="1850" dirty="0"/>
          </a:p>
          <a:p>
            <a:pPr marL="0" indent="0" algn="l">
              <a:lnSpc>
                <a:spcPct val="133000"/>
              </a:lnSpc>
              <a:spcAft>
                <a:spcPts val="1650"/>
              </a:spcAft>
              <a:buNone/>
            </a:pPr>
            <a:r>
              <a:rPr lang="en-US" sz="1850" dirty="0">
                <a:solidFill>
                  <a:srgbClr val="2C2821"/>
                </a:solidFill>
                <a:latin typeface="Lora" pitchFamily="34" charset="0"/>
                <a:ea typeface="Lora" pitchFamily="34" charset="-122"/>
                <a:cs typeface="Lora" pitchFamily="34" charset="-120"/>
              </a:rPr>
              <a:t>•Reduce search time using efficient indexing and data structures. Support single and multiple keyword searches.</a:t>
            </a:r>
            <a:endParaRPr lang="en-US" sz="1850" dirty="0"/>
          </a:p>
          <a:p>
            <a:pPr marL="0" indent="0" algn="l">
              <a:lnSpc>
                <a:spcPct val="133000"/>
              </a:lnSpc>
              <a:spcAft>
                <a:spcPts val="1650"/>
              </a:spcAft>
              <a:buNone/>
            </a:pPr>
            <a:r>
              <a:rPr lang="en-US" sz="1850" dirty="0">
                <a:solidFill>
                  <a:srgbClr val="2C2821"/>
                </a:solidFill>
                <a:latin typeface="Lora" pitchFamily="34" charset="0"/>
                <a:ea typeface="Lora" pitchFamily="34" charset="-122"/>
                <a:cs typeface="Lora" pitchFamily="34" charset="-120"/>
              </a:rPr>
              <a:t>•Successfully handle Unicode and Indian-language text.</a:t>
            </a:r>
            <a:endParaRPr lang="en-US" sz="1850" dirty="0"/>
          </a:p>
          <a:p>
            <a:pPr marL="0" indent="0" algn="l">
              <a:lnSpc>
                <a:spcPct val="133000"/>
              </a:lnSpc>
              <a:spcAft>
                <a:spcPts val="1650"/>
              </a:spcAft>
              <a:buNone/>
            </a:pPr>
            <a:r>
              <a:rPr lang="en-US" sz="1850" dirty="0">
                <a:solidFill>
                  <a:srgbClr val="2C2821"/>
                </a:solidFill>
                <a:latin typeface="Lora" pitchFamily="34" charset="0"/>
                <a:ea typeface="Lora" pitchFamily="34" charset="-122"/>
                <a:cs typeface="Lora" pitchFamily="34" charset="-120"/>
              </a:rPr>
              <a:t>•Display relevant documents based on the searched keywords.</a:t>
            </a:r>
            <a:endParaRPr lang="en-US" sz="1850" dirty="0"/>
          </a:p>
          <a:p>
            <a:pPr marL="0" indent="0" algn="l">
              <a:lnSpc>
                <a:spcPct val="133000"/>
              </a:lnSpc>
              <a:spcAft>
                <a:spcPts val="1650"/>
              </a:spcAft>
              <a:buNone/>
            </a:pPr>
            <a:r>
              <a:rPr lang="en-US" sz="1850" dirty="0">
                <a:solidFill>
                  <a:srgbClr val="2C2821"/>
                </a:solidFill>
                <a:latin typeface="Lora" pitchFamily="34" charset="0"/>
                <a:ea typeface="Lora" pitchFamily="34" charset="-122"/>
                <a:cs typeface="Lora" pitchFamily="34" charset="-120"/>
              </a:rPr>
              <a:t>•Rank results according to keyword frequency or occurrence.</a:t>
            </a:r>
            <a:endParaRPr lang="en-US" sz="1850" dirty="0"/>
          </a:p>
          <a:p>
            <a:pPr marL="0" indent="0" algn="l">
              <a:lnSpc>
                <a:spcPct val="133000"/>
              </a:lnSpc>
              <a:spcAft>
                <a:spcPts val="1650"/>
              </a:spcAft>
              <a:buNone/>
            </a:pPr>
            <a:r>
              <a:rPr lang="en-US" sz="1850" dirty="0">
                <a:solidFill>
                  <a:srgbClr val="2C2821"/>
                </a:solidFill>
                <a:latin typeface="Lora" pitchFamily="34" charset="0"/>
                <a:ea typeface="Lora" pitchFamily="34" charset="-122"/>
                <a:cs typeface="Lora" pitchFamily="34" charset="-120"/>
              </a:rPr>
              <a:t>•Handle large datasets efficiently.</a:t>
            </a:r>
            <a:endParaRPr lang="en-US" sz="1850" dirty="0"/>
          </a:p>
          <a:p>
            <a:pPr marL="0" indent="0" algn="l">
              <a:lnSpc>
                <a:spcPct val="133000"/>
              </a:lnSpc>
              <a:buNone/>
            </a:pPr>
            <a:r>
              <a:rPr lang="en-US" sz="1850" dirty="0">
                <a:solidFill>
                  <a:srgbClr val="2C2821"/>
                </a:solidFill>
                <a:latin typeface="Lora" pitchFamily="34" charset="0"/>
                <a:ea typeface="Lora" pitchFamily="34" charset="-122"/>
                <a:cs typeface="Lora" pitchFamily="34" charset="-120"/>
              </a:rPr>
              <a:t>•Provide a scalable and user-friendly search system.</a:t>
            </a:r>
            <a:endParaRPr lang="en-US" sz="1850" dirty="0"/>
          </a:p>
        </p:txBody>
      </p:sp>
      <p:pic>
        <p:nvPicPr>
          <p:cNvPr id="5" name="Picture 4">
            <a:extLst>
              <a:ext uri="{FF2B5EF4-FFF2-40B4-BE49-F238E27FC236}">
                <a16:creationId xmlns:a16="http://schemas.microsoft.com/office/drawing/2014/main" id="{55F17D0A-58C7-8A51-5032-A3BB491AF627}"/>
              </a:ext>
            </a:extLst>
          </p:cNvPr>
          <p:cNvPicPr>
            <a:picLocks noChangeAspect="1"/>
          </p:cNvPicPr>
          <p:nvPr/>
        </p:nvPicPr>
        <p:blipFill>
          <a:blip r:embed="rId3"/>
          <a:stretch>
            <a:fillRect/>
          </a:stretch>
        </p:blipFill>
        <p:spPr>
          <a:xfrm>
            <a:off x="10115260" y="6330169"/>
            <a:ext cx="2076740" cy="48584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477</Words>
  <Application>Microsoft Office PowerPoint</Application>
  <PresentationFormat>Widescreen</PresentationFormat>
  <Paragraphs>53</Paragraphs>
  <Slides>6</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Lora Bold</vt:lpstr>
      <vt:lpstr>Arial</vt:lpstr>
      <vt:lpstr>Alice</vt:lpstr>
      <vt:lpstr>Lora</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Aswitha Patel</dc:creator>
  <cp:lastModifiedBy>Aswitha Patel</cp:lastModifiedBy>
  <cp:revision>2</cp:revision>
  <dcterms:created xsi:type="dcterms:W3CDTF">2026-08-20T06:05:20Z</dcterms:created>
  <dcterms:modified xsi:type="dcterms:W3CDTF">2026-08-20T06:07:31Z</dcterms:modified>
</cp:coreProperties>
</file>